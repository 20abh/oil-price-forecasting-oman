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3.xml" ContentType="application/vnd.openxmlformats-officedocument.drawingml.chart+xml"/>
  <Override PartName="/ppt/notesSlides/notesSlide14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6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5" r:id="rId19"/>
    <p:sldId id="273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6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Distribution of Oil Prices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cat>
            <c:strRef>
              <c:f>Sheet1!$A$2:$A$10</c:f>
              <c:strCache>
                <c:ptCount val="9"/>
                <c:pt idx="0">
                  <c:v>$20–30</c:v>
                </c:pt>
                <c:pt idx="1">
                  <c:v>$30–40</c:v>
                </c:pt>
                <c:pt idx="2">
                  <c:v>$40–50</c:v>
                </c:pt>
                <c:pt idx="3">
                  <c:v>$50–60</c:v>
                </c:pt>
                <c:pt idx="4">
                  <c:v>$60–70</c:v>
                </c:pt>
                <c:pt idx="5">
                  <c:v>$70–80</c:v>
                </c:pt>
                <c:pt idx="6">
                  <c:v>$80–90</c:v>
                </c:pt>
                <c:pt idx="7">
                  <c:v>$90–100</c:v>
                </c:pt>
                <c:pt idx="8">
                  <c:v>$100–115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</c:v>
                </c:pt>
                <c:pt idx="1">
                  <c:v>2</c:v>
                </c:pt>
                <c:pt idx="2">
                  <c:v>10</c:v>
                </c:pt>
                <c:pt idx="3">
                  <c:v>9</c:v>
                </c:pt>
                <c:pt idx="4">
                  <c:v>14</c:v>
                </c:pt>
                <c:pt idx="5">
                  <c:v>8</c:v>
                </c:pt>
                <c:pt idx="6">
                  <c:v>7</c:v>
                </c:pt>
                <c:pt idx="7">
                  <c:v>5</c:v>
                </c:pt>
                <c:pt idx="8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0B3-4DF2-8ADB-A622716A07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4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85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Oil Price Trend (2016–2022)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Oil Price (USD)</c:v>
                </c:pt>
              </c:strCache>
            </c:strRef>
          </c:tx>
          <c:spPr>
            <a:ln w="31750" cap="flat">
              <a:solidFill>
                <a:srgbClr val="E8A0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Jan'16</c:v>
                </c:pt>
                <c:pt idx="1">
                  <c:v>Jul'16</c:v>
                </c:pt>
                <c:pt idx="2">
                  <c:v>Jan'17</c:v>
                </c:pt>
                <c:pt idx="3">
                  <c:v>Jul'17</c:v>
                </c:pt>
                <c:pt idx="4">
                  <c:v>Jan'18</c:v>
                </c:pt>
                <c:pt idx="5">
                  <c:v>Jul'18</c:v>
                </c:pt>
                <c:pt idx="6">
                  <c:v>Jan'19</c:v>
                </c:pt>
                <c:pt idx="7">
                  <c:v>Jul'19</c:v>
                </c:pt>
                <c:pt idx="8">
                  <c:v>Jan'20</c:v>
                </c:pt>
                <c:pt idx="9">
                  <c:v>Jul'20</c:v>
                </c:pt>
                <c:pt idx="10">
                  <c:v>Jan'21</c:v>
                </c:pt>
                <c:pt idx="11">
                  <c:v>Jul'21</c:v>
                </c:pt>
                <c:pt idx="12">
                  <c:v>Jan'22</c:v>
                </c:pt>
                <c:pt idx="13">
                  <c:v>Jul'22</c:v>
                </c:pt>
                <c:pt idx="14">
                  <c:v>Dec'22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42</c:v>
                </c:pt>
                <c:pt idx="1">
                  <c:v>47</c:v>
                </c:pt>
                <c:pt idx="2">
                  <c:v>45</c:v>
                </c:pt>
                <c:pt idx="3">
                  <c:v>53</c:v>
                </c:pt>
                <c:pt idx="4">
                  <c:v>68</c:v>
                </c:pt>
                <c:pt idx="5">
                  <c:v>75</c:v>
                </c:pt>
                <c:pt idx="6">
                  <c:v>63</c:v>
                </c:pt>
                <c:pt idx="7">
                  <c:v>67</c:v>
                </c:pt>
                <c:pt idx="8">
                  <c:v>64</c:v>
                </c:pt>
                <c:pt idx="9">
                  <c:v>23</c:v>
                </c:pt>
                <c:pt idx="10">
                  <c:v>45</c:v>
                </c:pt>
                <c:pt idx="11">
                  <c:v>73</c:v>
                </c:pt>
                <c:pt idx="12">
                  <c:v>85</c:v>
                </c:pt>
                <c:pt idx="13">
                  <c:v>100</c:v>
                </c:pt>
                <c:pt idx="14">
                  <c:v>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743-4A24-9406-97AE26C1EE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4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850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Oil Price Trend (2016–2022)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Oil Price (USD/barrel)</c:v>
                </c:pt>
              </c:strCache>
            </c:strRef>
          </c:tx>
          <c:spPr>
            <a:ln w="31750" cap="flat">
              <a:solidFill>
                <a:srgbClr val="E8A02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8A020"/>
              </a:solidFill>
              <a:ln w="9525" cap="flat">
                <a:solidFill>
                  <a:srgbClr val="E8A020"/>
                </a:solidFill>
                <a:prstDash val="solid"/>
                <a:round/>
              </a:ln>
              <a:effectLst/>
            </c:spPr>
          </c:marker>
          <c:cat>
            <c:strRef>
              <c:f>Sheet1!$A$2:$A$16</c:f>
              <c:strCache>
                <c:ptCount val="15"/>
                <c:pt idx="0">
                  <c:v>Jan'16</c:v>
                </c:pt>
                <c:pt idx="1">
                  <c:v>Jul'16</c:v>
                </c:pt>
                <c:pt idx="2">
                  <c:v>Jan'17</c:v>
                </c:pt>
                <c:pt idx="3">
                  <c:v>Jul'17</c:v>
                </c:pt>
                <c:pt idx="4">
                  <c:v>Jan'18</c:v>
                </c:pt>
                <c:pt idx="5">
                  <c:v>Jul'18</c:v>
                </c:pt>
                <c:pt idx="6">
                  <c:v>Jan'19</c:v>
                </c:pt>
                <c:pt idx="7">
                  <c:v>Jul'19</c:v>
                </c:pt>
                <c:pt idx="8">
                  <c:v>Jan'20</c:v>
                </c:pt>
                <c:pt idx="9">
                  <c:v>Apr'20</c:v>
                </c:pt>
                <c:pt idx="10">
                  <c:v>Jan'21</c:v>
                </c:pt>
                <c:pt idx="11">
                  <c:v>Jul'21</c:v>
                </c:pt>
                <c:pt idx="12">
                  <c:v>Jan'22</c:v>
                </c:pt>
                <c:pt idx="13">
                  <c:v>Jul'22</c:v>
                </c:pt>
                <c:pt idx="14">
                  <c:v>Dec'22</c:v>
                </c:pt>
              </c:strCache>
            </c:strRef>
          </c:cat>
          <c:val>
            <c:numRef>
              <c:f>Sheet1!$B$2:$B$16</c:f>
              <c:numCache>
                <c:formatCode>General</c:formatCode>
                <c:ptCount val="15"/>
                <c:pt idx="0">
                  <c:v>42</c:v>
                </c:pt>
                <c:pt idx="1">
                  <c:v>47</c:v>
                </c:pt>
                <c:pt idx="2">
                  <c:v>45</c:v>
                </c:pt>
                <c:pt idx="3">
                  <c:v>53</c:v>
                </c:pt>
                <c:pt idx="4">
                  <c:v>68</c:v>
                </c:pt>
                <c:pt idx="5">
                  <c:v>75</c:v>
                </c:pt>
                <c:pt idx="6">
                  <c:v>63</c:v>
                </c:pt>
                <c:pt idx="7">
                  <c:v>67</c:v>
                </c:pt>
                <c:pt idx="8">
                  <c:v>64</c:v>
                </c:pt>
                <c:pt idx="9">
                  <c:v>23</c:v>
                </c:pt>
                <c:pt idx="10">
                  <c:v>40</c:v>
                </c:pt>
                <c:pt idx="11">
                  <c:v>73</c:v>
                </c:pt>
                <c:pt idx="12">
                  <c:v>85</c:v>
                </c:pt>
                <c:pt idx="13">
                  <c:v>100</c:v>
                </c:pt>
                <c:pt idx="14">
                  <c:v>93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B56F-4D78-9C8F-318399E9E4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4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850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ACF — Original Series (Non-Stationary)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ACF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0.93</c:v>
                </c:pt>
                <c:pt idx="1">
                  <c:v>0.85</c:v>
                </c:pt>
                <c:pt idx="2">
                  <c:v>0.77</c:v>
                </c:pt>
                <c:pt idx="3">
                  <c:v>0.7</c:v>
                </c:pt>
                <c:pt idx="4">
                  <c:v>0.63</c:v>
                </c:pt>
                <c:pt idx="5">
                  <c:v>0.56000000000000005</c:v>
                </c:pt>
                <c:pt idx="6">
                  <c:v>0.49</c:v>
                </c:pt>
                <c:pt idx="7">
                  <c:v>0.42</c:v>
                </c:pt>
                <c:pt idx="8">
                  <c:v>0.36</c:v>
                </c:pt>
                <c:pt idx="9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AF-4AA2-97C6-BC270F23BA8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4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850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FFFFFF"/>
                </a:solidFill>
                <a:latin typeface="Arial"/>
              </a:rPr>
              <a:t>ACF — After 1st Differencing (Stationary ✓)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ACF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0.05</c:v>
                </c:pt>
                <c:pt idx="1">
                  <c:v>-0.15</c:v>
                </c:pt>
                <c:pt idx="2">
                  <c:v>0.08</c:v>
                </c:pt>
                <c:pt idx="3">
                  <c:v>-0.1</c:v>
                </c:pt>
                <c:pt idx="4">
                  <c:v>0.06</c:v>
                </c:pt>
                <c:pt idx="5">
                  <c:v>-0.08</c:v>
                </c:pt>
                <c:pt idx="6">
                  <c:v>0.04</c:v>
                </c:pt>
                <c:pt idx="7">
                  <c:v>0.12</c:v>
                </c:pt>
                <c:pt idx="8">
                  <c:v>-7.0000000000000007E-2</c:v>
                </c:pt>
                <c:pt idx="9">
                  <c:v>0.05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66-4A01-B6C6-C10384E538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4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850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RMSE Comparison (Lower is Better)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EF444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EF444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238-4EA9-BBEE-3D4A5E1CD2D3}"/>
              </c:ext>
            </c:extLst>
          </c:dPt>
          <c:dPt>
            <c:idx val="1"/>
            <c:invertIfNegative val="0"/>
            <c:bubble3D val="0"/>
            <c:spPr>
              <a:solidFill>
                <a:srgbClr val="E8A02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238-4EA9-BBEE-3D4A5E1CD2D3}"/>
              </c:ext>
            </c:extLst>
          </c:dPt>
          <c:dPt>
            <c:idx val="2"/>
            <c:invertIfNegative val="0"/>
            <c:bubble3D val="0"/>
            <c:spPr>
              <a:solidFill>
                <a:srgbClr val="22C55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238-4EA9-BBEE-3D4A5E1CD2D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SVR (alone)</c:v>
                </c:pt>
                <c:pt idx="1">
                  <c:v>ARIMA</c:v>
                </c:pt>
                <c:pt idx="2">
                  <c:v>SVR-ARIMA Hybrid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37.020000000000003</c:v>
                </c:pt>
                <c:pt idx="1">
                  <c:v>31.26</c:v>
                </c:pt>
                <c:pt idx="2">
                  <c:v>8.2799999999999994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238-4EA9-BBEE-3D4A5E1CD2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04A6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24385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91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281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453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Analysis and Forecasting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746046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Oman Oil Prices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248991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Using Statistical Models &amp; Machine Learning Techniques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3673372"/>
            <a:ext cx="4114800" cy="22860"/>
          </a:xfrm>
          <a:prstGeom prst="rect">
            <a:avLst/>
          </a:prstGeom>
          <a:solidFill>
            <a:srgbClr val="304A66"/>
          </a:solidFill>
          <a:ln w="12700">
            <a:solidFill>
              <a:srgbClr val="304A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72892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Student:  </a:t>
            </a:r>
            <a:r>
              <a:rPr lang="en-US" sz="13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Abdullah Ahmed Aldhahli  (ID: 129190)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401193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 </a:t>
            </a:r>
            <a:r>
              <a:rPr lang="en-US" sz="13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Dr. Brahim Benaid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48640" y="429859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Institution:  </a:t>
            </a:r>
            <a:r>
              <a:rPr lang="en-US" sz="13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Sultan Qaboos University  |  Spring 2026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4297680" cy="32004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601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Why Oil Prices Matter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3931920" cy="2560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Oil is the backbone of Oman's economy — it funds public services, infrastructure &amp; development</a:t>
            </a:r>
            <a:endParaRPr lang="en-US" sz="12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Oil prices are highly volatile — driven by global demand, political events 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b="0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price swings directly affect government budgeting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Forecasting oil prices accurately is essential for economic stability</a:t>
            </a:r>
            <a:endParaRPr lang="en-US" sz="125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92040" y="868680"/>
            <a:ext cx="3886200" cy="32004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120640" y="9601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Our Approach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120640" y="1389888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📊  Descriptive Statistics &amp; EDA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120640" y="1892808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📈  Multiple Linear Regression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120640" y="2395728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🔁 Time Series Model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120640" y="2898648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  ML (SVR)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120640" y="3401568"/>
            <a:ext cx="347472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🔗  Hybrid SVR-ARIMA Model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162130"/>
          </a:solidFill>
          <a:ln w="12700">
            <a:solidFill>
              <a:srgbClr val="304A6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Oil contributes over 70% of Oman's government revenue. When prices fall, the whole economy feels it — so we need good forecasting tools.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Problem &amp; Aim of Study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141732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Problem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Oil price forecasting in Oman is challenging because traditional models often fail to capture the complex, non-linear dynamics of the market. This limits accurate economic planning and policy decisions.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2395728"/>
            <a:ext cx="8412480" cy="100584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45059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Main Objective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4360" y="2798064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To compare traditional statistical models (ARIMA) with machine learning techniques (SVR) for forecasting Oman oil prices, and identify the best performing approach.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35478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Specific Objectives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65760" y="3840480"/>
            <a:ext cx="841248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Analyze historical oil prices, exports &amp; production (2016–2022)</a:t>
            </a: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&amp; evaluate Multiple Linear Regression model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&amp; evaluate Time Series models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&amp; evaluate Machine Learning models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Questions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251960" cy="18288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005840"/>
            <a:ext cx="50292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Q1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5568" y="1024128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are the important factors that influence oil price fluctuations in Oman?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800600" y="822960"/>
            <a:ext cx="4251960" cy="18288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65192" y="1005840"/>
            <a:ext cx="50292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65192" y="1005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Q2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550408" y="1024128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accurate are traditional statistical methods like ARIMA in forecasting Oman's oil prices?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4251960" cy="18288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" y="3017520"/>
            <a:ext cx="50292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Q3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115568" y="3035808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Can machine learning techniques (SVR) improve forecasting accuracy over ARIMA?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800600" y="2834640"/>
            <a:ext cx="4251960" cy="18288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65192" y="3017520"/>
            <a:ext cx="502920" cy="50292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65192" y="3017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Q4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550408" y="3035808"/>
            <a:ext cx="3337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Which approach — statistical or machine learning — gives the most reliable predictions?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65760" y="4718304"/>
            <a:ext cx="8412480" cy="274320"/>
          </a:xfrm>
          <a:prstGeom prst="rect">
            <a:avLst/>
          </a:prstGeom>
          <a:solidFill>
            <a:srgbClr val="162130"/>
          </a:solidFill>
          <a:ln w="12700">
            <a:solidFill>
              <a:srgbClr val="304A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79145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These four questions guided our entire analysis — each chapter answers one of them.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Database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1920240" cy="9144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9611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84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135331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Monthly Observations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423160" y="822960"/>
            <a:ext cx="1828800" cy="9144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23160" y="896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423160" y="1353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Variables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89120" y="822960"/>
            <a:ext cx="2103120" cy="9144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896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2016–2022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389120" y="13533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 Period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629400" y="822960"/>
            <a:ext cx="2103120" cy="9144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29400" y="89611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629400" y="135331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Missing Values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901952"/>
          <a:ext cx="8412480" cy="2304288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price (USD per barrel)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$23.65 – $112.93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Oil exports (Millions USD)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$19,870 – $30,969M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production (barrels/day)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26,374 – 33,944 bpd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USD_to_OMR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Exchange rate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0.3837 – 0.3853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date (2016–01 to 2022–12)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 months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solidFill>
            <a:srgbClr val="162130"/>
          </a:solidFill>
          <a:ln w="12700">
            <a:solidFill>
              <a:srgbClr val="304A6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47274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dataset covers 7 years of monthly data. Prices ranged from a low of $23 (COVID crash) to a high of $113 (2022 recovery). Four values were missing and handled by imputation.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 Preparation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68680"/>
            <a:ext cx="8412480" cy="123444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68680"/>
            <a:ext cx="640080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01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43000" y="960120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Create Date Variable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1344168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Combined year + month columns into a proper monthly date column (YYYY-MM-DD). Sorted data for accurate time series analysis.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" y="2258568"/>
            <a:ext cx="8412480" cy="123444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258568"/>
            <a:ext cx="640080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57860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02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43000" y="235000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Check Missing Values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143000" y="2734056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Found 4 missing values: prices missing for Oct 2021, exports missing for Jan 2019 &amp; Aug 2019, productions missing for Jun 2017.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3648456"/>
            <a:ext cx="8412480" cy="123444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3648456"/>
            <a:ext cx="640080" cy="1234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96849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43000" y="37398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Imputation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43000" y="4123944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Replaced missing values with the average for that month across all years. This preserves seasonal patterns without distorting the dataset.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5074920"/>
            <a:ext cx="8412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Exploratory Data Analysis (EDA)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83689865"/>
              </p:ext>
            </p:extLst>
          </p:nvPr>
        </p:nvGraphicFramePr>
        <p:xfrm>
          <a:off x="365760" y="841248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867370210"/>
              </p:ext>
            </p:extLst>
          </p:nvPr>
        </p:nvGraphicFramePr>
        <p:xfrm>
          <a:off x="4663440" y="841248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529584"/>
            <a:ext cx="8412480" cy="1261872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3566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Statistics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457200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Min Price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457200" y="4096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$23.65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2578608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Median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2578608" y="4096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$61.10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4700016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Mean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9"/>
          <p:cNvSpPr/>
          <p:nvPr/>
        </p:nvSpPr>
        <p:spPr>
          <a:xfrm>
            <a:off x="4700016" y="4096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$59.99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6821424" y="385876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Max Price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6821424" y="409651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$112.93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solidFill>
            <a:srgbClr val="162130"/>
          </a:solidFill>
          <a:ln w="12700">
            <a:solidFill>
              <a:srgbClr val="304A6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02920" y="4901184"/>
            <a:ext cx="82296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Prices dipped sharply in 2020 due to COVID-19 and recovered strongly in 2022. The distribution shows most prices cluster between $50–$75.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EDA — Correlation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4572000" cy="22860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USD_OMR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4D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54D0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A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USD_OMR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4A6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A2E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65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166360" y="868680"/>
            <a:ext cx="3566160" cy="256032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349240" y="93268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Findings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349240" y="1298448"/>
            <a:ext cx="3291840" cy="1920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Prices ↔ Production: moderate positive (0.59) — higher production links to higher prices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Prices ↔ Exports: very weak (0.04) — exports don't directly drive price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Exports ↔ Production: moderate (0.42) — more production → more exports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Exchange rate shows no meaningful correlation with any variable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3611880"/>
            <a:ext cx="256032" cy="256032"/>
          </a:xfrm>
          <a:prstGeom prst="rect">
            <a:avLst/>
          </a:prstGeom>
          <a:solidFill>
            <a:srgbClr val="166534"/>
          </a:solidFill>
          <a:ln w="12700">
            <a:solidFill>
              <a:srgbClr val="166534"/>
            </a:solidFill>
            <a:prstDash val="solid"/>
          </a:ln>
        </p:spPr>
      </p:sp>
      <p:sp>
        <p:nvSpPr>
          <p:cNvPr id="4" name="Text 6"/>
          <p:cNvSpPr/>
          <p:nvPr/>
        </p:nvSpPr>
        <p:spPr>
          <a:xfrm>
            <a:off x="685800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Strong positive (≥ 0.5)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450592" y="3611880"/>
            <a:ext cx="256032" cy="256032"/>
          </a:xfrm>
          <a:prstGeom prst="rect">
            <a:avLst/>
          </a:prstGeom>
          <a:solidFill>
            <a:srgbClr val="854D0E"/>
          </a:solidFill>
          <a:ln w="12700">
            <a:solidFill>
              <a:srgbClr val="854D0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70632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Moderate (0.2–0.5)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4535424" y="3611880"/>
            <a:ext cx="256032" cy="256032"/>
          </a:xfrm>
          <a:prstGeom prst="rect">
            <a:avLst/>
          </a:prstGeom>
          <a:solidFill>
            <a:srgbClr val="304A66"/>
          </a:solidFill>
          <a:ln w="12700">
            <a:solidFill>
              <a:srgbClr val="304A66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55464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Weak (&lt; 0.2)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6620256" y="3611880"/>
            <a:ext cx="256032" cy="256032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940296" y="3611880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Negative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65760" y="4828032"/>
            <a:ext cx="8412480" cy="274320"/>
          </a:xfrm>
          <a:prstGeom prst="rect">
            <a:avLst/>
          </a:prstGeom>
          <a:solidFill>
            <a:srgbClr val="162130"/>
          </a:solidFill>
          <a:ln w="12700">
            <a:solidFill>
              <a:srgbClr val="304A6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The strongest link is between production and price (0.59). This tells us production is a better predictor than exports — which guides our regression model.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One-Way ANOVA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4160520" cy="347472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91440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is One-Way ANOVA?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3840480" cy="2743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Tests whether the mean oil price differs significantly across multiple groups (e.g. years or months)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Compares variation between groups vs. variation within groups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F-statistic is large and p-value &lt; 0.05 → prices differ significantly between groups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09160" y="841248"/>
            <a:ext cx="4069080" cy="16002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914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Hypotheses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92040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H₀ :  Mean oil prices are equal across all years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892040" y="16002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H₁ :  At least one year has a significantly different mean price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709160" y="2578608"/>
            <a:ext cx="4069080" cy="173736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92040" y="2651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 &amp; Interpretation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92040" y="30175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p-value &lt; 0.05  →  Reject H₀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92040" y="338328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Oil prices differ significantly across years — confirming that year has a strong impact on price levels (e.g. COVID-19 in 2020, recovery in 2022).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solidFill>
            <a:srgbClr val="162130"/>
          </a:solidFill>
          <a:ln w="12700">
            <a:solidFill>
              <a:srgbClr val="304A6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4928616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ANOVA confirms what we see visually — oil prices in 2020 were significantly lower than other years, and 2022 was significantly higher.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Multiple Linear Regression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8412480" cy="749808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896112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Model:   Price = β₀ + β₁(Production) + β₂(Exports) + ε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4269405"/>
              </p:ext>
            </p:extLst>
          </p:nvPr>
        </p:nvGraphicFramePr>
        <p:xfrm>
          <a:off x="365760" y="1719072"/>
          <a:ext cx="8412480" cy="1645920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p-value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Intercept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-1.213e+02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0.000188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+0.008038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1.65e-10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-0.002331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0.008832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3273552"/>
            <a:ext cx="2651760" cy="86868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65760" y="33467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39.87%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365760" y="3803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R-Squared (Full Data)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3154680" y="3273552"/>
            <a:ext cx="2651760" cy="86868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8"/>
          <p:cNvSpPr/>
          <p:nvPr/>
        </p:nvSpPr>
        <p:spPr>
          <a:xfrm>
            <a:off x="3154680" y="334670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1.127e-09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154680" y="3803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F-test p-value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943600" y="3273552"/>
            <a:ext cx="2697480" cy="86868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5943600" y="334670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36.22%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5943600" y="3803904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R² after Log Transform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365760" y="4251960"/>
            <a:ext cx="8412480" cy="6858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48640" y="431596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Production has a significant POSITIVE effect on price. Exports have a significant NEGATIVE effect. Together they explain ~40% of price variation.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Hypothesis Testing — Regression by Period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252374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(p-val)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 (p-val)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F-test (p-val)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1.65e-10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0.0088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1.13e-09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39.87%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0.0076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0.0079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0.0029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2017–2018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0.121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2019–2021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0.0009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0.502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0.003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0.0074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0.433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0.023 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56.84%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66160"/>
            <a:ext cx="8412480" cy="132588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6301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Takeaways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3977640"/>
            <a:ext cx="8046720" cy="8686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Production is consistently significant (p &lt; 0.05) in ALL periods — it's the most reliable predictor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Exports are only significant in 2016 — in later years they lose explanatory power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2016 model has the highest R² (72.65%) — strongest fit; 2022 model is second best (56.84%)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4983480"/>
            <a:ext cx="8412480" cy="137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Confidence Intervals (95%) — Summary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41248"/>
          <a:ext cx="8412480" cy="2523744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Period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Production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Zero?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 CI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E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Includes Zero?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A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[0.00585, 0.01022]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✔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[-0.00406, -0.00060]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✔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[0.00204, 0.00999]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✔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[-0.00422, -0.00085]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✔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2017–2018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[-0.00117, 0.00769]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✗ 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[-0.00485, 0.00061]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✗ 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2019–2021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[0.00215, 0.00752]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✔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[-0.00238, 0.00119]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✗ 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[0.00248, 0.01201]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✔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[-0.00770, 0.00360]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✗ 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04A6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8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547872"/>
            <a:ext cx="8412480" cy="1353312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What a Confidence Interval Tells Us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548640" y="3950208"/>
            <a:ext cx="804672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If the 95% CI does NOT include zero → the variable has a statistically significant effect on price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Production's CI excludes zero in most periods → confirms its consistent significance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Exports' CI includes zero in 2017–2022 → confirms it is not a reliable predictor in recent years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4983480"/>
            <a:ext cx="8412480" cy="137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 Series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86386360"/>
              </p:ext>
            </p:extLst>
          </p:nvPr>
        </p:nvGraphicFramePr>
        <p:xfrm>
          <a:off x="365760" y="822960"/>
          <a:ext cx="53035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22960"/>
            <a:ext cx="2926080" cy="27432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886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Observations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035040" y="1261872"/>
            <a:ext cx="2651760" cy="2148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2016–2019: Gradual upward trend with mild fluctuations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Early 2020: Sharp COVID-19 crash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2021–2022: Strong recovery, peaking at ~$113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clear seasonal pattern → non-seasonal models are appropriate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Series is NON-STATIONARY → differencing required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365760" y="3703320"/>
            <a:ext cx="8412480" cy="1207008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3749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Time Series Components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📈 Trend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265176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🔄 Seasonality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475488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〰 Cyclic Pattern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6858000" y="406908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🎲 Random Noise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365760" y="4983480"/>
            <a:ext cx="8412480" cy="1371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Stationarity — ACF &amp; PACF Analysis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099666502"/>
              </p:ext>
            </p:extLst>
          </p:nvPr>
        </p:nvGraphicFramePr>
        <p:xfrm>
          <a:off x="365760" y="841248"/>
          <a:ext cx="402336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>
            <p:extLst>
              <p:ext uri="{D42A27DB-BD31-4B8C-83A1-F6EECF244321}">
                <p14:modId xmlns:p14="http://schemas.microsoft.com/office/powerpoint/2010/main" val="1104036175"/>
              </p:ext>
            </p:extLst>
          </p:nvPr>
        </p:nvGraphicFramePr>
        <p:xfrm>
          <a:off x="4709160" y="841248"/>
          <a:ext cx="4023360" cy="1874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2770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❌ Slow decay = Non-Stationary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4709160" y="27706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✅ Values within bounds = Stationary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4"/>
          <p:cNvSpPr/>
          <p:nvPr/>
        </p:nvSpPr>
        <p:spPr>
          <a:xfrm>
            <a:off x="365760" y="3182112"/>
            <a:ext cx="8412480" cy="100584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54864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PACF Analysis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48640" y="3547872"/>
            <a:ext cx="804672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PACF after differencing shows NO significant spikes → No strong autoregressive (AR) pattern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This suggests the model is likely a simple MA model → leads us to ARIMA(0,1,1)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7"/>
          <p:cNvSpPr/>
          <p:nvPr/>
        </p:nvSpPr>
        <p:spPr>
          <a:xfrm>
            <a:off x="365760" y="4279392"/>
            <a:ext cx="8412480" cy="658368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48640" y="437083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Box-Pierce Diagnostic Test:  p-value = 0.783  →  Residuals are random (white noise) ✅  The model is valid.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365760" y="5010912"/>
            <a:ext cx="8412480" cy="10972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ARIMA Models — Results &amp; Forecasting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4160520" cy="288036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ARIMA(0,1,1) — Full Data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RMSE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017520" y="1645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31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1993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017520" y="19933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4.547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17520" y="23408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548640" y="2688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017520" y="268833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30358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Box-Pierce p-value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017520" y="30358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0.783 ✅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709160" y="850392"/>
            <a:ext cx="4069080" cy="288036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269480" y="16459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269480" y="19933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269480" y="303580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365760" y="3858768"/>
            <a:ext cx="8412480" cy="9144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48640" y="39136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📈 Forecast Insight: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48640" y="4242816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ARIMA(0,1,1) forecasts oil prices stabilizing near $91/barrel (Jan 2023). Confidence intervals widen over time — Jan 2023: $79–$103, Oct 2023: $45–$137. Short-term forecasts are more reliable.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9F2A03AD-8B40-48C1-D468-A2B6D231D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850392"/>
            <a:ext cx="4069080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Support Vector Regression (SVR)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41248"/>
            <a:ext cx="4160520" cy="169164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96112"/>
            <a:ext cx="3794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SVR Works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3794760" cy="12344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Machine learning model for predicting continuous values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Uses a kernel function to find complex non-linear patterns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parameters: Cost (C) controls penalty for errors; Epsilon (ε) allows a tolerance margin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709160" y="841248"/>
            <a:ext cx="4069080" cy="169164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896112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Optimal Parameters Selected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892040" y="13258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Cost (C)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0" y="13258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50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892040" y="1783080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Epsilon (ε)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0" y="17830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0.25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8412480" cy="11430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48640" y="27157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SVR Alone — Performance Results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48640" y="3090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RMSE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48640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37.02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48640" y="363931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Very high error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46704" y="3090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MAE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46704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27.11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346704" y="363931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Predictions off by ~$27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144768" y="3090672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Verdict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144768" y="33375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❌ Poor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144768" y="3639312"/>
            <a:ext cx="2560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Not suitable alone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65760" y="3913632"/>
            <a:ext cx="8412480" cy="6858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8640" y="398678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SVR alone fails because it doesn't model the time-dependent trend in oil prices. However, it becomes powerful when combined with ARIMA to capture residual non-linear patterns.</a:t>
            </a:r>
            <a:endParaRPr lang="en-US" sz="12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65760" y="4681728"/>
            <a:ext cx="8412480" cy="1371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Hybrid SVR-ARIMA Model — Best Results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365760" y="804672"/>
            <a:ext cx="411480" cy="4572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822960"/>
            <a:ext cx="4251960" cy="109728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30352" y="1097280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115568" y="960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Fit ARIMA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5568" y="13258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Apply ARIMA to capture the linear trend in oil prices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00600" y="822960"/>
            <a:ext cx="4251960" cy="109728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65192" y="1097280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097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2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550408" y="96012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 Residuals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550408" y="132588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Compute the errors (residuals) left over from ARIMA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5760" y="2057400"/>
            <a:ext cx="4251960" cy="109728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331720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1115568" y="2194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Train SVR on Residuals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115568" y="25603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Use SVR to learn the non-linear patterns in residuals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800600" y="2057400"/>
            <a:ext cx="4251960" cy="109728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65192" y="2331720"/>
            <a:ext cx="457200" cy="457200"/>
          </a:xfrm>
          <a:prstGeom prst="ellipse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65192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2E4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550408" y="2194560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B6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Combine Forecasts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550408" y="25603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Final prediction = ARIMA forecast + SVR correction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990791429"/>
              </p:ext>
            </p:extLst>
          </p:nvPr>
        </p:nvGraphicFramePr>
        <p:xfrm>
          <a:off x="365760" y="3337560"/>
          <a:ext cx="5029200" cy="1600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5" name="Shape 22"/>
          <p:cNvSpPr/>
          <p:nvPr/>
        </p:nvSpPr>
        <p:spPr>
          <a:xfrm>
            <a:off x="5577840" y="3337560"/>
            <a:ext cx="3200400" cy="1600200"/>
          </a:xfrm>
          <a:prstGeom prst="rect">
            <a:avLst/>
          </a:prstGeom>
          <a:solidFill>
            <a:srgbClr val="243850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5760720" y="34015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🏆 Winner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4"/>
          <p:cNvSpPr/>
          <p:nvPr/>
        </p:nvSpPr>
        <p:spPr>
          <a:xfrm>
            <a:off x="5760720" y="376732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2C5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SVR-ARIMA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5760720" y="425196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RMSE = 8.28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vs. ARIMA 31.26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vs. SVR 37.02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365760" y="5032857"/>
            <a:ext cx="8412480" cy="137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E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D9456DFB-6561-3C90-845C-40FEBCC932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3824" y="864070"/>
            <a:ext cx="6976351" cy="3788398"/>
          </a:xfrm>
          <a:prstGeom prst="rect">
            <a:avLst/>
          </a:prstGeom>
        </p:spPr>
      </p:pic>
      <p:sp>
        <p:nvSpPr>
          <p:cNvPr id="31" name="Shape 26">
            <a:extLst>
              <a:ext uri="{FF2B5EF4-FFF2-40B4-BE49-F238E27FC236}">
                <a16:creationId xmlns:a16="http://schemas.microsoft.com/office/drawing/2014/main" id="{05B69329-1222-1C2A-3E6E-C213DB2F988E}"/>
              </a:ext>
            </a:extLst>
          </p:cNvPr>
          <p:cNvSpPr/>
          <p:nvPr/>
        </p:nvSpPr>
        <p:spPr>
          <a:xfrm>
            <a:off x="365760" y="5032857"/>
            <a:ext cx="8412480" cy="137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46EB2375-1E75-5FE4-65CD-3D1129301BE4}"/>
              </a:ext>
            </a:extLst>
          </p:cNvPr>
          <p:cNvSpPr/>
          <p:nvPr/>
        </p:nvSpPr>
        <p:spPr>
          <a:xfrm>
            <a:off x="365760" y="25603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plot compares the original oil prices with ARIMA and SVR-ARIMA forecasts</a:t>
            </a:r>
            <a:endParaRPr lang="en-US" sz="22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0360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240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Conclusions &amp; Recommendations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51960" cy="1261872"/>
          </a:xfrm>
          <a:prstGeom prst="rect">
            <a:avLst/>
          </a:prstGeom>
          <a:solidFill>
            <a:srgbClr val="1A2E44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30352" y="1115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📌  Production Drives Prices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0352" y="1508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Production is the most consistent and significant predictor of oil prices across all periods studied.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251960" cy="1261872"/>
          </a:xfrm>
          <a:prstGeom prst="rect">
            <a:avLst/>
          </a:prstGeom>
          <a:solidFill>
            <a:srgbClr val="1A2E44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65192" y="111556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📉  ARIMA Works — But Moderately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965192" y="150876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ARIMA(0,1,1) provides acceptable forecasts (RMSE =31) but is limited to linear patterns in the data.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65760" y="2423160"/>
            <a:ext cx="4251960" cy="1261872"/>
          </a:xfrm>
          <a:prstGeom prst="rect">
            <a:avLst/>
          </a:prstGeom>
          <a:solidFill>
            <a:srgbClr val="1A2E44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" y="2532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🤖  SVR Alone is Insufficient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30352" y="2926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SVR alone produces very high errors (RMSE=37) and is not suitable for standalone oil price forecasting.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800600" y="2423160"/>
            <a:ext cx="4251960" cy="1261872"/>
          </a:xfrm>
          <a:prstGeom prst="rect">
            <a:avLst/>
          </a:prstGeom>
          <a:solidFill>
            <a:srgbClr val="1A2E44"/>
          </a:solidFill>
          <a:ln w="12700">
            <a:solidFill>
              <a:srgbClr val="304A66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65192" y="25328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🏆  Hybrid Model is Best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965192" y="2926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SVR-ARIMA achieves the lowest RMSE (8.28) — combining statistical and ML power gives the best accuracy.</a:t>
            </a:r>
            <a:endParaRPr lang="en-US" sz="1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65760" y="3950208"/>
            <a:ext cx="8412480" cy="960120"/>
          </a:xfrm>
          <a:prstGeom prst="rect">
            <a:avLst/>
          </a:prstGeom>
          <a:solidFill>
            <a:srgbClr val="1A2E44"/>
          </a:solidFill>
          <a:ln w="19050">
            <a:solidFill>
              <a:srgbClr val="E8A02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02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Recommendation: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48640" y="4343400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Future work should test deep learning models and include additional variables like global demand, geopolitical events to improve forecasting accuracy.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466</TotalTime>
  <Words>1784</Words>
  <Application>Microsoft Office PowerPoint</Application>
  <PresentationFormat>On-screen Show (16:9)</PresentationFormat>
  <Paragraphs>335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and Forecasting Oman Oil Prices</dc:title>
  <dc:subject>PptxGenJS Presentation</dc:subject>
  <dc:creator>PptxGenJS</dc:creator>
  <cp:lastModifiedBy>hp</cp:lastModifiedBy>
  <cp:revision>9</cp:revision>
  <dcterms:created xsi:type="dcterms:W3CDTF">2026-05-06T20:02:29Z</dcterms:created>
  <dcterms:modified xsi:type="dcterms:W3CDTF">2026-05-07T04:07:07Z</dcterms:modified>
</cp:coreProperties>
</file>